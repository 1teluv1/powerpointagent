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411480"/>
            <a:ext cx="2377440" cy="2377440"/>
          </a:xfrm>
          <a:prstGeom prst="ellipse">
            <a:avLst/>
          </a:prstGeom>
          <a:solidFill>
            <a:srgbClr val="7E4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715000"/>
            <a:ext cx="1737360" cy="1737360"/>
          </a:xfrm>
          <a:prstGeom prst="ellipse">
            <a:avLst/>
          </a:prstGeom>
          <a:solidFill>
            <a:srgbClr val="C8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6126480" cy="7498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7F1E8"/>
                </a:solidFill>
                <a:latin typeface="Aptos Display"/>
              </a:rPr>
              <a:t>ÉCLAT NOIR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2212848"/>
            <a:ext cx="1801368" cy="0"/>
          </a:xfrm>
          <a:prstGeom prst="line">
            <a:avLst/>
          </a:prstGeom>
          <a:ln w="279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2395728"/>
            <a:ext cx="539496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8A45D"/>
                </a:solidFill>
                <a:latin typeface="Aptos"/>
              </a:rPr>
              <a:t>A Premium Fragrance Brand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27248"/>
            <a:ext cx="539496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"/>
              </a:rPr>
              <a:t>기억에 남는 순간을 향으로 설계하는 니치 퍼퓸 브랜드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50208"/>
            <a:ext cx="480060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B7A99A"/>
                </a:solidFill>
                <a:latin typeface="Aptos"/>
              </a:rPr>
              <a:t>ÉCLAT NOIR는 섬세한 원료와 현대적 감성을 결합해 개인의 분위기를 완성하는 프리미엄 향수 브랜드입니다.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841248"/>
            <a:ext cx="4251960" cy="539496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337560"/>
            <a:ext cx="3977640" cy="4023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B7A99A"/>
                </a:solidFill>
                <a:latin typeface="Aptos"/>
              </a:rPr>
              <a:t>hero_bottle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7548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 Display"/>
              </a:rPr>
              <a:t>Brand Essence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향으로 표현하는 정체성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52144"/>
            <a:ext cx="126187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627632"/>
            <a:ext cx="4251960" cy="1920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7F1E8"/>
                </a:solidFill>
                <a:latin typeface="Aptos Display"/>
              </a:rPr>
              <a:t>Deep,
Quiet,
Memorable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03904"/>
            <a:ext cx="4224528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B7A99A"/>
                </a:solidFill>
                <a:latin typeface="Aptos"/>
              </a:rPr>
              <a:t>브랜드 핵심 가치는 절제된 우아함, 오래 지속되는 잔향, 개인의 취향을 존중하는 독창성입니다.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17320"/>
            <a:ext cx="5257800" cy="1115568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51576" y="1618488"/>
            <a:ext cx="4754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C8A45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600200"/>
            <a:ext cx="3566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7F1E8"/>
                </a:solidFill>
                <a:latin typeface="Aptos"/>
              </a:rPr>
              <a:t>Restrained Elegance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984248"/>
            <a:ext cx="3977639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7A99A"/>
                </a:solidFill>
                <a:latin typeface="Aptos"/>
              </a:rPr>
              <a:t>과장보다 절제, 유행보다 지속성을 우선하는 미감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834640"/>
            <a:ext cx="5257800" cy="1115568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51576" y="3035808"/>
            <a:ext cx="4754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C8A45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017520"/>
            <a:ext cx="3566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7F1E8"/>
                </a:solidFill>
                <a:latin typeface="Aptos"/>
              </a:rPr>
              <a:t>Lasting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401568"/>
            <a:ext cx="3977639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7A99A"/>
                </a:solidFill>
                <a:latin typeface="Aptos"/>
              </a:rPr>
              <a:t>시간이 지나도 은은하게 남는 깊은 잔향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251960"/>
            <a:ext cx="5257800" cy="1115568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6" y="4453128"/>
            <a:ext cx="4754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C8A45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434840"/>
            <a:ext cx="3566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7F1E8"/>
                </a:solidFill>
                <a:latin typeface="Aptos"/>
              </a:rPr>
              <a:t>Personal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818888"/>
            <a:ext cx="3977639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7A99A"/>
                </a:solidFill>
                <a:latin typeface="Aptos"/>
              </a:rPr>
              <a:t>개인의 취향과 분위기를 완성하는 독창성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7548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 Display"/>
              </a:rPr>
              <a:t>Signature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대표 향수 라인업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52144"/>
            <a:ext cx="126187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353312"/>
            <a:ext cx="84124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7F1E8"/>
                </a:solidFill>
                <a:latin typeface="Aptos"/>
              </a:rPr>
              <a:t>세 가지 시그니처 향으로 완성하는 브랜드 세계관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652760" cy="105156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71700"/>
            <a:ext cx="10378440" cy="4023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B7A99A"/>
                </a:solidFill>
                <a:latin typeface="Aptos"/>
              </a:rPr>
              <a:t>collection_lineup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154680"/>
            <a:ext cx="3310128" cy="233172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66544" y="3337560"/>
            <a:ext cx="658368" cy="658368"/>
          </a:xfrm>
          <a:prstGeom prst="ellipse">
            <a:avLst/>
          </a:prstGeom>
          <a:solidFill>
            <a:srgbClr val="7E4F3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087368"/>
            <a:ext cx="2852928" cy="3017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7F1E8"/>
                </a:solidFill>
                <a:latin typeface="Aptos"/>
              </a:rPr>
              <a:t>Noir Wood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453128"/>
            <a:ext cx="285292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Woody Musk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800600"/>
            <a:ext cx="2560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TOP  Bergamot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HEART  Cedarwood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BASE  Musk, 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5239511"/>
            <a:ext cx="2852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C8A45D"/>
                </a:solidFill>
                <a:latin typeface="Aptos"/>
              </a:rPr>
              <a:t>DEEP · WARM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154680"/>
            <a:ext cx="3310128" cy="233172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43016" y="3337560"/>
            <a:ext cx="658368" cy="658368"/>
          </a:xfrm>
          <a:prstGeom prst="ellipse">
            <a:avLst/>
          </a:prstGeom>
          <a:solidFill>
            <a:srgbClr val="7E4F3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087368"/>
            <a:ext cx="2852928" cy="3017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7F1E8"/>
                </a:solidFill>
                <a:latin typeface="Aptos"/>
              </a:rPr>
              <a:t>Lumière Rose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453128"/>
            <a:ext cx="285292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Floral 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4800600"/>
            <a:ext cx="2560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TOP  Pink Pepper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HEART  Rose, Iris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BASE  Amber, Vanilla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239511"/>
            <a:ext cx="2852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C8A45D"/>
                </a:solidFill>
                <a:latin typeface="Aptos"/>
              </a:rPr>
              <a:t>SOFT · LUMINOUS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3154680"/>
            <a:ext cx="3310128" cy="233172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19488" y="3337560"/>
            <a:ext cx="658368" cy="658368"/>
          </a:xfrm>
          <a:prstGeom prst="ellipse">
            <a:avLst/>
          </a:prstGeom>
          <a:solidFill>
            <a:srgbClr val="7E4F3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4087368"/>
            <a:ext cx="2852928" cy="3017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7F1E8"/>
                </a:solidFill>
                <a:latin typeface="Aptos"/>
              </a:rPr>
              <a:t>Citrus Veil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4453128"/>
            <a:ext cx="285292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Citrus Musk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800600"/>
            <a:ext cx="2560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TOP  Mandarin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HEART  Neroli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B7A99A"/>
                </a:solidFill>
                <a:latin typeface="Aptos"/>
              </a:rPr>
              <a:t>BASE  White Musk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5239511"/>
            <a:ext cx="28529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C8A45D"/>
                </a:solidFill>
                <a:latin typeface="Aptos"/>
              </a:rPr>
              <a:t>FRESH · CLEAN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7548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 Display"/>
              </a:rPr>
              <a:t>Scent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향의 구조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52144"/>
            <a:ext cx="126187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1371600"/>
            <a:ext cx="71323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7F1E8"/>
                </a:solidFill>
                <a:latin typeface="Aptos"/>
              </a:rPr>
              <a:t>첫 향부터 잔향까지 설계된 감각의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45262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7A99A"/>
                </a:solidFill>
                <a:latin typeface="Aptos"/>
              </a:rPr>
              <a:t>상큼한 탑 노트, 풍성한 하트 노트, 깊고 지속적인 베이스 노트가 균형 있게 이어집니다.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1664208"/>
            <a:ext cx="3840480" cy="379476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360420"/>
            <a:ext cx="3566160" cy="4023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B7A99A"/>
                </a:solidFill>
                <a:latin typeface="Aptos"/>
              </a:rPr>
              <a:t>scent_pyramid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856231"/>
            <a:ext cx="3090672" cy="713232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965959"/>
            <a:ext cx="2560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7F1E8"/>
                </a:solidFill>
                <a:latin typeface="Aptos"/>
              </a:rPr>
              <a:t>Top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59" y="2240279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B7A99A"/>
                </a:solidFill>
                <a:latin typeface="Aptos"/>
              </a:rPr>
              <a:t>Mandarin · Bergamot · Pink Pepper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99831" y="2212847"/>
            <a:ext cx="384048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0496" y="3154680"/>
            <a:ext cx="3090672" cy="713232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23376" y="3264408"/>
            <a:ext cx="2560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7F1E8"/>
                </a:solidFill>
                <a:latin typeface="Aptos"/>
              </a:rPr>
              <a:t>Heart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3538728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B7A99A"/>
                </a:solidFill>
                <a:latin typeface="Aptos"/>
              </a:rPr>
              <a:t>Rose · Neroli · Cedarwood · Iris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56448" y="3511296"/>
            <a:ext cx="384048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56448" y="4498848"/>
            <a:ext cx="3090672" cy="713232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4608576"/>
            <a:ext cx="2560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7F1E8"/>
                </a:solidFill>
                <a:latin typeface="Aptos"/>
              </a:rPr>
              <a:t>Base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882896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B7A99A"/>
                </a:solidFill>
                <a:latin typeface="Aptos"/>
              </a:rPr>
              <a:t>Musk · Amber · Vanilla · Woods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4855464"/>
            <a:ext cx="384048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7548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 Display"/>
              </a:rP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핵심 고객층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52144"/>
            <a:ext cx="126187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371600"/>
            <a:ext cx="48463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7F1E8"/>
                </a:solidFill>
                <a:latin typeface="Aptos"/>
              </a:rPr>
              <a:t>취향을 통해 자신을 표현하는 25–40세 프리미엄 소비자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45262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7A99A"/>
                </a:solidFill>
                <a:latin typeface="Aptos"/>
              </a:rPr>
              <a:t>핵심 고객은 대중적인 향보다 개성 있는 니치 향을 선호하며, 패키지 디자인과 브랜드 스토리까지 구매 기준으로 고려합니다.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310128"/>
            <a:ext cx="4480560" cy="1572768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17373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8A45D"/>
                </a:solidFill>
                <a:latin typeface="Aptos"/>
              </a:rPr>
              <a:t>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388620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7A99A"/>
                </a:solidFill>
                <a:latin typeface="Aptos"/>
              </a:rPr>
              <a:t>도시적 라이프스타일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B7A99A"/>
                </a:solidFill>
                <a:latin typeface="Aptos"/>
              </a:rPr>
              <a:t>감각적 소비와 자기표현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B7A99A"/>
                </a:solidFill>
                <a:latin typeface="Aptos"/>
              </a:rPr>
              <a:t>리미티드 제품과 브랜드 스토리 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89888"/>
            <a:ext cx="5166360" cy="434340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360420"/>
            <a:ext cx="4892040" cy="4023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B7A99A"/>
                </a:solidFill>
                <a:latin typeface="Aptos"/>
              </a:rPr>
              <a:t>positioning_chart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7548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 Display"/>
              </a:rPr>
              <a:t>Brand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고객 접점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52144"/>
            <a:ext cx="126187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3258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F7F1E8"/>
                </a:solidFill>
                <a:latin typeface="Aptos"/>
              </a:rPr>
              <a:t>향을 발견하고, 경험하고, 기억하게 만드는 여정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6812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7A99A"/>
                </a:solidFill>
                <a:latin typeface="Aptos"/>
              </a:rPr>
              <a:t>팝업 부티크, 시향 키트, 맞춤 추천 콘텐츠, 멤버십 리워드를 통해 고객 경험을 확장합니다.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788920"/>
            <a:ext cx="2194560" cy="132588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953512"/>
            <a:ext cx="38404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8A45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227832"/>
            <a:ext cx="17830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7F1E8"/>
                </a:solidFill>
                <a:latin typeface="Aptos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593592"/>
            <a:ext cx="17830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7A99A"/>
                </a:solidFill>
                <a:latin typeface="Aptos"/>
              </a:rPr>
              <a:t>SNS 콘텐츠
시향 키트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447288"/>
            <a:ext cx="530352" cy="0"/>
          </a:xfrm>
          <a:prstGeom prst="line">
            <a:avLst/>
          </a:prstGeom>
          <a:ln w="1778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93591" y="2788920"/>
            <a:ext cx="2194560" cy="132588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2953512"/>
            <a:ext cx="38404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8A45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3" y="3227832"/>
            <a:ext cx="17830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7F1E8"/>
                </a:solidFill>
                <a:latin typeface="Aptos"/>
              </a:rPr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3" y="3593592"/>
            <a:ext cx="17830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7A99A"/>
                </a:solidFill>
                <a:latin typeface="Aptos"/>
              </a:rPr>
              <a:t>팝업 부티크
컨설팅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39" y="3447288"/>
            <a:ext cx="530352" cy="0"/>
          </a:xfrm>
          <a:prstGeom prst="line">
            <a:avLst/>
          </a:prstGeom>
          <a:ln w="1778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82512" y="2788920"/>
            <a:ext cx="2194560" cy="132588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953512"/>
            <a:ext cx="38404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8A45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227832"/>
            <a:ext cx="17830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7F1E8"/>
                </a:solidFill>
                <a:latin typeface="Aptos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593592"/>
            <a:ext cx="17830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7A99A"/>
                </a:solidFill>
                <a:latin typeface="Aptos"/>
              </a:rPr>
              <a:t>프리미엄 패키지
온라인 구매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3447288"/>
            <a:ext cx="530352" cy="0"/>
          </a:xfrm>
          <a:prstGeom prst="line">
            <a:avLst/>
          </a:prstGeom>
          <a:ln w="1778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71432" y="2788920"/>
            <a:ext cx="2194560" cy="1325880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2953512"/>
            <a:ext cx="38404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8A45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227832"/>
            <a:ext cx="17830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7F1E8"/>
                </a:solidFill>
                <a:latin typeface="Aptos"/>
              </a:rPr>
              <a:t>Loyalty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593592"/>
            <a:ext cx="17830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B7A99A"/>
                </a:solidFill>
                <a:latin typeface="Aptos"/>
              </a:rPr>
              <a:t>멤버십 리워드
리필 프로그램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4645152"/>
            <a:ext cx="10607040" cy="1024128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956048"/>
            <a:ext cx="10332720" cy="40233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B7A99A"/>
                </a:solidFill>
                <a:latin typeface="Aptos"/>
              </a:rPr>
              <a:t>brand_journey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7548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7F1E8"/>
                </a:solidFill>
                <a:latin typeface="Aptos Display"/>
              </a:rPr>
              <a:t>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8A45D"/>
                </a:solidFill>
                <a:latin typeface="Aptos"/>
              </a:rPr>
              <a:t>시장 확장 방향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152144"/>
            <a:ext cx="126187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353312"/>
            <a:ext cx="88696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F7F1E8"/>
                </a:solidFill>
                <a:latin typeface="Aptos"/>
              </a:rPr>
              <a:t>니치 향수 시장에서 감각적 브랜드 자산을 축적하는 단계적 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84248"/>
            <a:ext cx="67665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7A99A"/>
                </a:solidFill>
                <a:latin typeface="Aptos"/>
              </a:rPr>
              <a:t>1단계 브랜드 론칭, 2단계 리테일 및 팝업 확장, 3단계 글로벌 온라인 채널 진출을 추진합니다.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971800"/>
            <a:ext cx="3200400" cy="1901952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3209544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8A45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593592"/>
            <a:ext cx="22860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7F1E8"/>
                </a:solidFill>
                <a:latin typeface="Aptos Display"/>
              </a:rPr>
              <a:t>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069080"/>
            <a:ext cx="2578608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브랜드 아이덴티티 확립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시그니처 3종 출시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D2C 온라인몰 오픈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3922776"/>
            <a:ext cx="438912" cy="0"/>
          </a:xfrm>
          <a:prstGeom prst="line">
            <a:avLst/>
          </a:prstGeom>
          <a:ln w="1778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07992" y="2971800"/>
            <a:ext cx="3200400" cy="1901952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3209544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8A45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593592"/>
            <a:ext cx="22860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7F1E8"/>
                </a:solidFill>
                <a:latin typeface="Aptos Display"/>
              </a:rPr>
              <a:t>Expand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4069080"/>
            <a:ext cx="2578608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프리미엄 편집숍 입점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팝업 부티크 운영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시향 키트 캠페인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80" y="3922776"/>
            <a:ext cx="438912" cy="0"/>
          </a:xfrm>
          <a:prstGeom prst="line">
            <a:avLst/>
          </a:prstGeom>
          <a:ln w="1778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11312" y="2971800"/>
            <a:ext cx="3200400" cy="1901952"/>
          </a:xfrm>
          <a:prstGeom prst="roundRect">
            <a:avLst/>
          </a:prstGeom>
          <a:solidFill>
            <a:srgbClr val="241C1A"/>
          </a:solidFill>
          <a:ln w="12700">
            <a:solidFill>
              <a:srgbClr val="7E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3209544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8A45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593592"/>
            <a:ext cx="22860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7F1E8"/>
                </a:solidFill>
                <a:latin typeface="Aptos Display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4069080"/>
            <a:ext cx="2578608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글로벌 온라인 채널 진출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한정판 컬렉션 확장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B7A99A"/>
                </a:solidFill>
                <a:latin typeface="Aptos"/>
              </a:rPr>
              <a:t>멤버십 데이터 고도화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650992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C8A45D"/>
                </a:solidFill>
                <a:latin typeface="Aptos"/>
              </a:rPr>
              <a:t>ÉCLAT NOIR builds fragrance as a lasting brand asset.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364224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B7A99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